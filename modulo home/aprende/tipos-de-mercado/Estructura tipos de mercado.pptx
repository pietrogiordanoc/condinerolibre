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9C2E-AD6E-1C75-AE2A-5A392C72C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88375-11F7-67C3-0B9E-98A16C535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518BC-BC5A-5CCB-E73E-ACCA2C444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34736-D401-7B52-2B95-E73C3668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B453C-2B3B-06FC-F33F-DF7670F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1777-CC7A-B5BF-D089-F4D5EF23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F9E4-F314-C351-B9F7-C646603BB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F8B9D-81FB-1EC0-92D9-BB2DA363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6F56F-E282-1355-0B8E-7DBB52A4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18341-4328-707B-93F2-BC591F42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8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5F81-E181-656A-7D9D-661804BD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9DA74-1CE2-CBC4-CD09-07731D591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F8439-B41E-246A-D878-C55F788A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F527D-E82B-AFCE-8B36-64F427E3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25C14-5EC7-E88F-9AC0-8DE8CC1A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84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FAB6-2202-8455-2F3E-2C641A26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3D250-5A35-C3A6-B34F-FFE8E9E9F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548DE-8C32-04AC-5617-91CF81D04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F4029-E171-C18D-9F7A-C706FF43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FFC54-F68C-3B9B-6D50-C7E43B59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30672-649B-82EF-665E-04B9B95D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4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1642-9543-C51B-332A-BE70C7B7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CFB71-ED70-08C4-D2B3-C05611D84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4A430-C603-6074-8036-B33F8616F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0637B-E435-D979-8C63-5912EED8D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791B-AF94-B6F4-0C17-7B0EF5310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23347-45F7-E652-41B8-639ABD26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6A1A1-8EE5-5D28-013A-0CBAA64B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BBFA1-9DC1-4D8B-9CA9-7D15E100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7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D39F-EE77-A130-9F7D-08E24C53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FEE7F-0C7F-5E76-70F9-E88656944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CDAA7-4F32-47A6-BC5C-167C9253A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735D7-2031-9A43-8597-01EE9289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6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C1455-05D4-DC9D-DAED-94CEB237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18675-774B-F6CE-EF54-92017C4B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1D3E-8662-05A4-0318-E65B91F9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7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B52F-AAE9-40A1-5D69-CD103389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6778C-6263-CE38-DFCA-61C46C347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1603F-A921-6536-C930-1F02C21A3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42798-5EC6-ECD8-CB60-18711C72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7BB62-B008-7056-1FD6-0174257B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ABB72-4436-350D-F3B7-A2CF076C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9D4A-9005-B075-B819-B93198C2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B90637-0986-E31A-1E6F-BEC366F34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F5E7B-ED16-1D93-C054-BA439BE6B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B384F-27A9-F1C7-5280-11343A16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0980D-E8B5-8E96-D222-4063566D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8D325-9233-5246-CAC9-C8C5304C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0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55B5-A64E-DBC8-EBD9-874BE8CF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52C2E-38E4-7BB2-2C1C-44AF3BDC1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B5B1A-6B10-34A4-B433-2367A258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6C45-47E6-0C55-7A46-F0F55C1C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7228B-A9EC-7C02-FF73-2CECB515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6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905C6-EDFC-7A75-7BD3-B6B4D1278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312D7-C59F-C073-4398-433E90274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AE28-847F-0CC5-9A07-DD3048A6F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C3163-FA85-2C78-DABD-F04E400A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371EB-31FF-FA8A-3C64-2CA9321E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44F7B-AF2B-6F30-F5EF-7DAF9BC5D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6ADFF-0033-EC94-AA09-47FFB7735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A2E0-54C9-D959-3B9E-5FC8014B7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DBDE4-BA6C-421F-83A4-DC213D5D667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2AB4-191E-CF6E-CD98-69452CD92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193F-DFC5-3E30-C0BE-64AE82BE2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8721F-1486-4A48-AB0D-49E62E035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9D83E3-18DB-3CA7-3B2F-17F0F0653845}"/>
              </a:ext>
            </a:extLst>
          </p:cNvPr>
          <p:cNvSpPr txBox="1"/>
          <p:nvPr/>
        </p:nvSpPr>
        <p:spPr>
          <a:xfrm>
            <a:off x="795867" y="1246079"/>
            <a:ext cx="6639406" cy="535786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es-ES" b="1" dirty="0"/>
              <a:t>(recomendado, 4–8 en total al principio):</a:t>
            </a:r>
            <a:endParaRPr lang="es-ES" dirty="0"/>
          </a:p>
          <a:p>
            <a:r>
              <a:rPr lang="es-ES" dirty="0"/>
              <a:t>/aprende/</a:t>
            </a:r>
            <a:r>
              <a:rPr lang="es-ES" b="1" dirty="0" err="1">
                <a:solidFill>
                  <a:schemeClr val="accent1"/>
                </a:solidFill>
              </a:rPr>
              <a:t>forex</a:t>
            </a:r>
            <a:r>
              <a:rPr lang="es-ES" b="1" dirty="0">
                <a:solidFill>
                  <a:schemeClr val="accent1"/>
                </a:solidFill>
              </a:rPr>
              <a:t>-</a:t>
            </a:r>
            <a:r>
              <a:rPr lang="es-ES" b="1" dirty="0" err="1">
                <a:solidFill>
                  <a:schemeClr val="accent1"/>
                </a:solidFill>
              </a:rPr>
              <a:t>para-principiantes</a:t>
            </a:r>
            <a:endParaRPr lang="es-ES" b="1" dirty="0">
              <a:solidFill>
                <a:schemeClr val="accent1"/>
              </a:solidFill>
            </a:endParaRPr>
          </a:p>
          <a:p>
            <a:pPr lvl="1"/>
            <a:r>
              <a:rPr lang="es-ES" dirty="0"/>
              <a:t>intención: “cómo empezar en </a:t>
            </a:r>
            <a:r>
              <a:rPr lang="es-ES" dirty="0" err="1"/>
              <a:t>forex</a:t>
            </a:r>
            <a:r>
              <a:rPr lang="es-ES" dirty="0"/>
              <a:t>”, sesiones, pares, errores típicos</a:t>
            </a:r>
          </a:p>
          <a:p>
            <a:r>
              <a:rPr lang="es-ES" dirty="0"/>
              <a:t>/aprende/</a:t>
            </a:r>
            <a:r>
              <a:rPr lang="es-ES" b="1" dirty="0" err="1">
                <a:solidFill>
                  <a:schemeClr val="accent1"/>
                </a:solidFill>
              </a:rPr>
              <a:t>indices</a:t>
            </a:r>
            <a:r>
              <a:rPr lang="es-ES" b="1" dirty="0">
                <a:solidFill>
                  <a:schemeClr val="accent1"/>
                </a:solidFill>
              </a:rPr>
              <a:t>-</a:t>
            </a:r>
            <a:r>
              <a:rPr lang="es-ES" b="1" dirty="0" err="1">
                <a:solidFill>
                  <a:schemeClr val="accent1"/>
                </a:solidFill>
              </a:rPr>
              <a:t>para-trading</a:t>
            </a:r>
            <a:endParaRPr lang="es-ES" b="1" dirty="0">
              <a:solidFill>
                <a:schemeClr val="accent1"/>
              </a:solidFill>
            </a:endParaRPr>
          </a:p>
          <a:p>
            <a:pPr lvl="1"/>
            <a:r>
              <a:rPr lang="es-ES" dirty="0"/>
              <a:t>intención: “cómo operar índices”, horarios, aperturas, riesgos</a:t>
            </a:r>
          </a:p>
          <a:p>
            <a:r>
              <a:rPr lang="es-ES" dirty="0"/>
              <a:t>/aprende/</a:t>
            </a:r>
            <a:r>
              <a:rPr lang="es-ES" b="1" dirty="0">
                <a:solidFill>
                  <a:schemeClr val="accent1"/>
                </a:solidFill>
              </a:rPr>
              <a:t>acciones-para-trading</a:t>
            </a:r>
          </a:p>
          <a:p>
            <a:pPr lvl="1"/>
            <a:r>
              <a:rPr lang="es-ES" dirty="0"/>
              <a:t>intención: “trading en acciones”, </a:t>
            </a:r>
            <a:r>
              <a:rPr lang="es-ES" dirty="0" err="1"/>
              <a:t>earnings</a:t>
            </a:r>
            <a:r>
              <a:rPr lang="es-ES" dirty="0"/>
              <a:t>, gaps, selección</a:t>
            </a:r>
          </a:p>
          <a:p>
            <a:r>
              <a:rPr lang="es-ES" dirty="0"/>
              <a:t>/aprende/</a:t>
            </a:r>
            <a:r>
              <a:rPr lang="es-ES" b="1" dirty="0">
                <a:solidFill>
                  <a:schemeClr val="accent1"/>
                </a:solidFill>
              </a:rPr>
              <a:t>cripto-para-principiantes</a:t>
            </a:r>
          </a:p>
          <a:p>
            <a:pPr lvl="1"/>
            <a:r>
              <a:rPr lang="es-ES" dirty="0"/>
              <a:t>intención: “cómo operar cripto sin FOMO”, 24/7, reglas, riesgo</a:t>
            </a:r>
          </a:p>
          <a:p>
            <a:r>
              <a:rPr lang="es-ES" dirty="0"/>
              <a:t>/aprende/</a:t>
            </a:r>
            <a:r>
              <a:rPr lang="es-ES" b="1" dirty="0">
                <a:solidFill>
                  <a:schemeClr val="accent1"/>
                </a:solidFill>
              </a:rPr>
              <a:t>que-es-el-spread</a:t>
            </a:r>
          </a:p>
          <a:p>
            <a:pPr lvl="1"/>
            <a:r>
              <a:rPr lang="es-ES" dirty="0"/>
              <a:t>intención: definición + ejemplos + cuándo importa</a:t>
            </a:r>
          </a:p>
          <a:p>
            <a:r>
              <a:rPr lang="es-ES" dirty="0"/>
              <a:t>/aprende/</a:t>
            </a:r>
            <a:r>
              <a:rPr lang="es-ES" b="1" dirty="0">
                <a:solidFill>
                  <a:schemeClr val="accent1"/>
                </a:solidFill>
              </a:rPr>
              <a:t>que-es-el-</a:t>
            </a:r>
            <a:r>
              <a:rPr lang="es-ES" b="1" dirty="0" err="1">
                <a:solidFill>
                  <a:schemeClr val="accent1"/>
                </a:solidFill>
              </a:rPr>
              <a:t>slippage</a:t>
            </a:r>
            <a:endParaRPr lang="es-ES" b="1" dirty="0">
              <a:solidFill>
                <a:schemeClr val="accent1"/>
              </a:solidFill>
            </a:endParaRPr>
          </a:p>
          <a:p>
            <a:pPr lvl="1"/>
            <a:r>
              <a:rPr lang="es-ES" dirty="0"/>
              <a:t>intención: definición + por qué pasa + cómo reducirlo</a:t>
            </a:r>
          </a:p>
          <a:p>
            <a:r>
              <a:rPr lang="es-ES" dirty="0"/>
              <a:t>(opcional) /aprende/</a:t>
            </a:r>
            <a:r>
              <a:rPr lang="es-ES" b="1" dirty="0">
                <a:solidFill>
                  <a:schemeClr val="accent1"/>
                </a:solidFill>
              </a:rPr>
              <a:t>que-es-el-swap-overnight</a:t>
            </a:r>
          </a:p>
          <a:p>
            <a:r>
              <a:rPr lang="es-ES" dirty="0"/>
              <a:t>(opcional) /aprende/</a:t>
            </a:r>
            <a:r>
              <a:rPr lang="es-ES" b="1" dirty="0">
                <a:solidFill>
                  <a:schemeClr val="accent1"/>
                </a:solidFill>
              </a:rPr>
              <a:t>horarios-sesiones-</a:t>
            </a:r>
            <a:r>
              <a:rPr lang="es-ES" b="1" dirty="0" err="1">
                <a:solidFill>
                  <a:schemeClr val="accent1"/>
                </a:solidFill>
              </a:rPr>
              <a:t>forex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/>
              <a:t>Cómo enlazar (sin canibalizar)</a:t>
            </a:r>
          </a:p>
          <a:p>
            <a:r>
              <a:rPr lang="es-ES" b="1" dirty="0"/>
              <a:t>Cada satélite</a:t>
            </a:r>
            <a:r>
              <a:rPr lang="es-ES" dirty="0"/>
              <a:t> debe enlazar a la pilar con un anchor tipo:</a:t>
            </a:r>
          </a:p>
          <a:p>
            <a:pPr lvl="1"/>
            <a:r>
              <a:rPr lang="es-ES" dirty="0"/>
              <a:t>“Tipos de mercado en trading”</a:t>
            </a:r>
          </a:p>
          <a:p>
            <a:pPr lvl="1"/>
            <a:r>
              <a:rPr lang="es-ES" dirty="0"/>
              <a:t>“Guía de mercados para trading”</a:t>
            </a:r>
          </a:p>
          <a:p>
            <a:r>
              <a:rPr lang="es-ES" b="1" dirty="0"/>
              <a:t>La pilar</a:t>
            </a:r>
            <a:r>
              <a:rPr lang="es-ES" dirty="0"/>
              <a:t> enlaza a todos los satélites (como ya hiciste en “Relacionados”).</a:t>
            </a:r>
          </a:p>
          <a:p>
            <a:r>
              <a:rPr lang="es-ES" b="1" dirty="0"/>
              <a:t>Regla clave para no liarla</a:t>
            </a:r>
          </a:p>
          <a:p>
            <a:r>
              <a:rPr lang="es-ES" dirty="0"/>
              <a:t>La </a:t>
            </a:r>
            <a:r>
              <a:rPr lang="es-ES" b="1" dirty="0"/>
              <a:t>pilar</a:t>
            </a:r>
            <a:r>
              <a:rPr lang="es-ES" dirty="0"/>
              <a:t> responde: “qué mercados existen y cómo elegir”.</a:t>
            </a:r>
          </a:p>
          <a:p>
            <a:r>
              <a:rPr lang="es-ES" dirty="0"/>
              <a:t>Los </a:t>
            </a:r>
            <a:r>
              <a:rPr lang="es-ES" b="1" dirty="0"/>
              <a:t>satélites</a:t>
            </a:r>
            <a:r>
              <a:rPr lang="es-ES" dirty="0"/>
              <a:t> responden: “cómo funciona </a:t>
            </a:r>
            <a:r>
              <a:rPr lang="es-ES" i="1" dirty="0"/>
              <a:t>este</a:t>
            </a:r>
            <a:r>
              <a:rPr lang="es-ES" dirty="0"/>
              <a:t> mercado” o “qué es </a:t>
            </a:r>
            <a:r>
              <a:rPr lang="es-ES" i="1" dirty="0"/>
              <a:t>este</a:t>
            </a:r>
            <a:r>
              <a:rPr lang="es-ES" dirty="0"/>
              <a:t> coste”.</a:t>
            </a:r>
          </a:p>
          <a:p>
            <a:r>
              <a:rPr lang="es-ES" dirty="0"/>
              <a:t>Evita que un satélite sea “Tipos de mercado…” otra vez. Eso sería canibalización.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655BE-27EE-8172-C692-B3974F55AC29}"/>
              </a:ext>
            </a:extLst>
          </p:cNvPr>
          <p:cNvSpPr txBox="1"/>
          <p:nvPr/>
        </p:nvSpPr>
        <p:spPr>
          <a:xfrm>
            <a:off x="795867" y="138083"/>
            <a:ext cx="483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 ES EL TRADING (PILAR BASE)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E6EA9-5F4C-AF29-ECF1-EC9993E75133}"/>
              </a:ext>
            </a:extLst>
          </p:cNvPr>
          <p:cNvSpPr txBox="1"/>
          <p:nvPr/>
        </p:nvSpPr>
        <p:spPr>
          <a:xfrm>
            <a:off x="795867" y="876747"/>
            <a:ext cx="483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SATELITES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F1DD9-00F5-060E-58D3-EDEEB951CC8C}"/>
              </a:ext>
            </a:extLst>
          </p:cNvPr>
          <p:cNvSpPr txBox="1"/>
          <p:nvPr/>
        </p:nvSpPr>
        <p:spPr>
          <a:xfrm>
            <a:off x="795867" y="451412"/>
            <a:ext cx="483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TIPOS DE MERCADO (PILAR PRINCIPAL)</a:t>
            </a:r>
          </a:p>
        </p:txBody>
      </p:sp>
    </p:spTree>
    <p:extLst>
      <p:ext uri="{BB962C8B-B14F-4D97-AF65-F5344CB8AC3E}">
        <p14:creationId xmlns:p14="http://schemas.microsoft.com/office/powerpoint/2010/main" val="367539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231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Pietro Giordano</dc:creator>
  <cp:lastModifiedBy>Pietro Giordano</cp:lastModifiedBy>
  <cp:revision>2</cp:revision>
  <dcterms:created xsi:type="dcterms:W3CDTF">2026-01-04T11:02:40Z</dcterms:created>
  <dcterms:modified xsi:type="dcterms:W3CDTF">2026-01-04T12:21:09Z</dcterms:modified>
</cp:coreProperties>
</file>